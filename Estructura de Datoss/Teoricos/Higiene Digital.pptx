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3.jpeg" ContentType="image/jpeg"/>
  <Override PartName="/ppt/media/image4.jpeg" ContentType="image/jpeg"/>
  <Override PartName="/ppt/media/image5.png" ContentType="image/png"/>
  <Override PartName="/ppt/media/image8.jpeg" ContentType="image/jpeg"/>
  <Override PartName="/ppt/media/image6.jpeg" ContentType="image/jpeg"/>
  <Override PartName="/ppt/media/image9.png" ContentType="image/png"/>
  <Override PartName="/ppt/media/image7.png" ContentType="image/png"/>
  <Override PartName="/ppt/media/image10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562080" cy="98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562080" cy="98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562080" cy="98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562080" cy="98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228600" y="428400"/>
            <a:ext cx="6222600" cy="98496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ffffff">
                <a:alpha val="5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7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47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8;p1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60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53;p13" descr="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851360" y="228600"/>
            <a:ext cx="4143960" cy="98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4683960" y="1914120"/>
            <a:ext cx="849240" cy="42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4683960" y="2540160"/>
            <a:ext cx="849240" cy="42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4683960" y="3166200"/>
            <a:ext cx="849240" cy="42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title"/>
          </p:nvPr>
        </p:nvSpPr>
        <p:spPr>
          <a:xfrm>
            <a:off x="4683960" y="1290240"/>
            <a:ext cx="849240" cy="41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title"/>
          </p:nvPr>
        </p:nvSpPr>
        <p:spPr>
          <a:xfrm>
            <a:off x="4683960" y="3792240"/>
            <a:ext cx="849240" cy="42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 type="title"/>
          </p:nvPr>
        </p:nvSpPr>
        <p:spPr>
          <a:xfrm>
            <a:off x="4683960" y="4418280"/>
            <a:ext cx="849240" cy="42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8"/>
          <p:cNvSpPr>
            <a:spLocks noGrp="1"/>
          </p:cNvSpPr>
          <p:nvPr>
            <p:ph type="body"/>
          </p:nvPr>
        </p:nvSpPr>
        <p:spPr>
          <a:xfrm>
            <a:off x="-304920" y="228600"/>
            <a:ext cx="4231080" cy="468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9;p14" descr=""/>
          <p:cNvPicPr/>
          <p:nvPr/>
        </p:nvPicPr>
        <p:blipFill>
          <a:blip r:embed="rId2"/>
          <a:stretch/>
        </p:blipFill>
        <p:spPr>
          <a:xfrm flipH="1" rot="10800000"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75120" cy="13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3;p15" descr="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835520" cy="17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28600" y="1969920"/>
            <a:ext cx="4835520" cy="244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217480" y="228600"/>
            <a:ext cx="3926520" cy="468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78;p1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81;p17" descr="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301200" y="1910880"/>
            <a:ext cx="678600" cy="49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228600" y="1911240"/>
            <a:ext cx="677520" cy="49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6375240" y="1911240"/>
            <a:ext cx="678600" cy="49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90;p18" descr="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body"/>
          </p:nvPr>
        </p:nvSpPr>
        <p:spPr>
          <a:xfrm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228600" y="477000"/>
            <a:ext cx="5447520" cy="87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45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45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228600" y="2593440"/>
            <a:ext cx="5447520" cy="87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fr-FR" sz="45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45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111;p20" descr="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112;p20"/>
          <p:cNvSpPr/>
          <p:nvPr/>
        </p:nvSpPr>
        <p:spPr>
          <a:xfrm>
            <a:off x="228600" y="3283560"/>
            <a:ext cx="49453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000" spc="-1" strike="noStrike">
                <a:solidFill>
                  <a:schemeClr val="dk1"/>
                </a:solidFill>
                <a:latin typeface="Public Sans"/>
                <a:ea typeface="Public Sans"/>
              </a:rPr>
              <a:t>CREDITS:</a:t>
            </a:r>
            <a:r>
              <a:rPr b="0" lang="en" sz="1000" spc="-1" strike="noStrike">
                <a:solidFill>
                  <a:schemeClr val="dk1"/>
                </a:solidFill>
                <a:latin typeface="Public Sans"/>
                <a:ea typeface="Public Sans"/>
              </a:rPr>
              <a:t> This presentation template was created by </a:t>
            </a:r>
            <a:r>
              <a:rPr b="1" lang="en" sz="1000" spc="-1" strike="noStrike" u="sng">
                <a:solidFill>
                  <a:schemeClr val="dk1"/>
                </a:solidFill>
                <a:uFillTx/>
                <a:latin typeface="Public Sans"/>
                <a:ea typeface="Public Sans"/>
                <a:hlinkClick r:id="rId3"/>
              </a:rPr>
              <a:t>Slidesgo</a:t>
            </a:r>
            <a:r>
              <a:rPr b="0" lang="en" sz="1000" spc="-1" strike="noStrike">
                <a:solidFill>
                  <a:schemeClr val="dk1"/>
                </a:solidFill>
                <a:latin typeface="Public Sans"/>
                <a:ea typeface="Public Sans"/>
              </a:rPr>
              <a:t>, and includes icons, infographics &amp; images by </a:t>
            </a:r>
            <a:r>
              <a:rPr b="1" lang="en" sz="1000" spc="-1" strike="noStrike" u="sng">
                <a:solidFill>
                  <a:schemeClr val="dk1"/>
                </a:solidFill>
                <a:uFillTx/>
                <a:latin typeface="Public Sans"/>
                <a:ea typeface="Public Sans"/>
                <a:hlinkClick r:id="rId4"/>
              </a:rPr>
              <a:t>Freepik</a:t>
            </a:r>
            <a:r>
              <a:rPr b="0" lang="en" sz="1000" spc="-1" strike="noStrike">
                <a:solidFill>
                  <a:schemeClr val="dk1"/>
                </a:solidFill>
                <a:latin typeface="Public Sans"/>
                <a:ea typeface="Public Sans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562080" cy="98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2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5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1248840" y="380880"/>
            <a:ext cx="5471640" cy="7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0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/>
          </p:nvPr>
        </p:nvSpPr>
        <p:spPr>
          <a:xfrm>
            <a:off x="228600" y="421920"/>
            <a:ext cx="1019880" cy="71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4400" spc="-1" strike="noStrike">
                <a:solidFill>
                  <a:schemeClr val="dk1"/>
                </a:solidFill>
                <a:latin typeface="Sora"/>
                <a:ea typeface="Sora"/>
              </a:rPr>
              <a:t>xx%</a:t>
            </a:r>
            <a:endParaRPr b="0" lang="fr-F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16;p21" descr=""/>
          <p:cNvPicPr/>
          <p:nvPr/>
        </p:nvPicPr>
        <p:blipFill>
          <a:blip r:embed="rId2"/>
          <a:srcRect l="0" t="5214" r="0" b="5202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18;p22" descr=""/>
          <p:cNvPicPr/>
          <p:nvPr/>
        </p:nvPicPr>
        <p:blipFill>
          <a:blip r:embed="rId2"/>
          <a:srcRect l="0" t="5214" r="0" b="5202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7;p4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228600" y="3999600"/>
            <a:ext cx="2020320" cy="73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21;p5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217480" y="228600"/>
            <a:ext cx="4231080" cy="468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29;p6" descr=""/>
          <p:cNvPicPr/>
          <p:nvPr/>
        </p:nvPicPr>
        <p:blipFill>
          <a:blip r:embed="rId2"/>
          <a:stretch/>
        </p:blipFill>
        <p:spPr>
          <a:xfrm flipH="1" rot="10800000"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32;p7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37;p8" descr=""/>
          <p:cNvPicPr/>
          <p:nvPr/>
        </p:nvPicPr>
        <p:blipFill>
          <a:blip r:embed="rId2"/>
          <a:stretch/>
        </p:blipFill>
        <p:spPr>
          <a:xfrm flipH="1" rot="10800000"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40;p9" descr="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296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2669400" cy="33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0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1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24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2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27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fr-FR" sz="22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134;p27" descr=""/>
          <p:cNvPicPr/>
          <p:nvPr/>
        </p:nvPicPr>
        <p:blipFill>
          <a:blip r:embed="rId1"/>
          <a:srcRect l="0" t="5212" r="0" b="5204"/>
          <a:stretch/>
        </p:blipFill>
        <p:spPr>
          <a:xfrm flipH="1">
            <a:off x="360" y="0"/>
            <a:ext cx="9143640" cy="5142960"/>
          </a:xfrm>
          <a:prstGeom prst="rect">
            <a:avLst/>
          </a:prstGeom>
          <a:ln w="0">
            <a:noFill/>
          </a:ln>
        </p:spPr>
      </p:pic>
      <p:grpSp>
        <p:nvGrpSpPr>
          <p:cNvPr id="73" name="Google Shape;135;p27"/>
          <p:cNvGrpSpPr/>
          <p:nvPr/>
        </p:nvGrpSpPr>
        <p:grpSpPr>
          <a:xfrm>
            <a:off x="-553320" y="270720"/>
            <a:ext cx="9278280" cy="1300320"/>
            <a:chOff x="-553320" y="270720"/>
            <a:chExt cx="9278280" cy="1300320"/>
          </a:xfrm>
        </p:grpSpPr>
        <p:sp>
          <p:nvSpPr>
            <p:cNvPr id="74" name="Google Shape;136;p27"/>
            <p:cNvSpPr/>
            <p:nvPr/>
          </p:nvSpPr>
          <p:spPr>
            <a:xfrm>
              <a:off x="-553320" y="270720"/>
              <a:ext cx="9278280" cy="1300320"/>
            </a:xfrm>
            <a:prstGeom prst="roundRect">
              <a:avLst>
                <a:gd name="adj" fmla="val 43641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" name="Google Shape;137;p27"/>
            <p:cNvSpPr/>
            <p:nvPr/>
          </p:nvSpPr>
          <p:spPr>
            <a:xfrm>
              <a:off x="-343800" y="465480"/>
              <a:ext cx="207720" cy="2077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440" bIns="73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28600" y="428760"/>
            <a:ext cx="6219360" cy="98064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ffffff">
                <a:alpha val="5000"/>
              </a:srgbClr>
            </a:outerShdw>
          </a:effectLst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700" spc="-1" strike="noStrike">
                <a:solidFill>
                  <a:schemeClr val="dk1"/>
                </a:solidFill>
                <a:latin typeface="Sora"/>
                <a:ea typeface="Sora"/>
              </a:rPr>
              <a:t>Higiene Digital</a:t>
            </a:r>
            <a:endParaRPr b="0" lang="fr-FR" sz="47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228600" y="1685880"/>
            <a:ext cx="2847600" cy="160920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Public Sans"/>
                <a:ea typeface="Public Sans"/>
              </a:rPr>
              <a:t>Protegiendo nuestra privacidad y dispositivos en línea.</a:t>
            </a:r>
            <a:endParaRPr b="0" lang="en-US" sz="1600" spc="-1" strike="noStrike">
              <a:solidFill>
                <a:srgbClr val="000000"/>
              </a:solidFill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71;p30"/>
          <p:cNvSpPr/>
          <p:nvPr/>
        </p:nvSpPr>
        <p:spPr>
          <a:xfrm>
            <a:off x="5217480" y="228600"/>
            <a:ext cx="3926520" cy="4686120"/>
          </a:xfrm>
          <a:prstGeom prst="roundRect">
            <a:avLst>
              <a:gd name="adj" fmla="val 8045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838400" cy="174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pc="-1" strike="noStrike">
                <a:solidFill>
                  <a:schemeClr val="dk1"/>
                </a:solidFill>
                <a:latin typeface="Sora"/>
                <a:ea typeface="Sora"/>
              </a:rPr>
              <a:t>Introducción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228600" y="1971720"/>
            <a:ext cx="483840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Public Sans"/>
              <a:ea typeface="Public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78;p31" descr=""/>
          <p:cNvPicPr/>
          <p:nvPr/>
        </p:nvPicPr>
        <p:blipFill>
          <a:blip r:embed="rId1"/>
          <a:srcRect l="0" t="5212" r="0" b="5204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  <p:grpSp>
        <p:nvGrpSpPr>
          <p:cNvPr id="82" name="Google Shape;179;p31"/>
          <p:cNvGrpSpPr/>
          <p:nvPr/>
        </p:nvGrpSpPr>
        <p:grpSpPr>
          <a:xfrm>
            <a:off x="-553320" y="130680"/>
            <a:ext cx="9278280" cy="1300320"/>
            <a:chOff x="-553320" y="130680"/>
            <a:chExt cx="9278280" cy="1300320"/>
          </a:xfrm>
        </p:grpSpPr>
        <p:sp>
          <p:nvSpPr>
            <p:cNvPr id="83" name="Google Shape;180;p31"/>
            <p:cNvSpPr/>
            <p:nvPr/>
          </p:nvSpPr>
          <p:spPr>
            <a:xfrm>
              <a:off x="-553320" y="130680"/>
              <a:ext cx="9278280" cy="1300320"/>
            </a:xfrm>
            <a:prstGeom prst="roundRect">
              <a:avLst>
                <a:gd name="adj" fmla="val 43641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4" name="Google Shape;181;p31"/>
            <p:cNvSpPr/>
            <p:nvPr/>
          </p:nvSpPr>
          <p:spPr>
            <a:xfrm>
              <a:off x="-343800" y="465480"/>
              <a:ext cx="207720" cy="2077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440" bIns="73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247760" y="380880"/>
            <a:ext cx="5466960" cy="7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000" spc="-1" strike="noStrike">
                <a:solidFill>
                  <a:schemeClr val="dk1"/>
                </a:solidFill>
                <a:latin typeface="Sora"/>
                <a:ea typeface="Sora"/>
              </a:rPr>
              <a:t>Higiene Digital</a:t>
            </a:r>
            <a:endParaRPr b="0" lang="fr-FR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228600" y="419040"/>
            <a:ext cx="1018800" cy="71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0920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400" spc="-1" strike="noStrike">
                <a:solidFill>
                  <a:schemeClr val="dk1"/>
                </a:solidFill>
                <a:latin typeface="Sora"/>
                <a:ea typeface="Sora"/>
              </a:rPr>
              <a:t>01</a:t>
            </a:r>
            <a:endParaRPr b="0" lang="fr-F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71;p30"/>
          <p:cNvSpPr/>
          <p:nvPr/>
        </p:nvSpPr>
        <p:spPr>
          <a:xfrm>
            <a:off x="5217480" y="228600"/>
            <a:ext cx="3926520" cy="4686120"/>
          </a:xfrm>
          <a:prstGeom prst="roundRect">
            <a:avLst>
              <a:gd name="adj" fmla="val 8045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838400" cy="174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pc="-1" strike="noStrike">
                <a:solidFill>
                  <a:schemeClr val="dk1"/>
                </a:solidFill>
                <a:latin typeface="Sora"/>
                <a:ea typeface="Sora"/>
              </a:rPr>
              <a:t>Prácticas preventivas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228600" y="1971720"/>
            <a:ext cx="483840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Public Sans"/>
                <a:ea typeface="Public Sans"/>
              </a:rPr>
              <a:t>La higiene digital abarca hábitos y prácticas que son esenciales para proteger nuestros dispositivos y datos. Esto incluye estar alerta ante enlaces sospechosos, evitar redes Wi-Fi públicas sin protección y ser críticos con los permisos que otorgamos a las aplicaciones. Adoptar estos hábitos puede reducir significativamente los riesgos asociados con el uso diario de tecnología.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7692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Sora"/>
                <a:ea typeface="Sora"/>
              </a:rPr>
              <a:t>Contraseñas robustas</a:t>
            </a:r>
            <a:endParaRPr b="0" lang="fr-FR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228600" y="170496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Public Sans"/>
                <a:ea typeface="Public Sans"/>
              </a:rPr>
              <a:t>Utilizar contraseñas robustas es fundamental en la higiene digital. Estas contraseñas deben ser largas, contener una combinación de letras, números y símbolos, y evitar información personal fácil de adivinar. Además, es recomendable utilizar un gestor de contraseñas para generar y almacenar contraseñas únicas para cada cuenta, lo que minimiza el riesgo de accesos no autorizados.</a:t>
            </a:r>
            <a:endParaRPr b="0" lang="en-US" sz="1400" spc="-1" strike="noStrike">
              <a:solidFill>
                <a:srgbClr val="000000"/>
              </a:solidFill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7692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Sora"/>
                <a:ea typeface="Sora"/>
              </a:rPr>
              <a:t>Copias de seguridad</a:t>
            </a:r>
            <a:endParaRPr b="0" lang="fr-FR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228600" y="170496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Public Sans"/>
                <a:ea typeface="Public Sans"/>
              </a:rPr>
              <a:t>Las copias de seguridad son una línea de defensa crucial en la higiene digital. Mantener respaldos regulares de archivos importantes asegura que, en caso de pérdida de datos due a un ataque cibernético o fallo técnico, se pueda recuperar información crítica. Utilizar almacenamiento en la nube o discos duros externos para este propósito no solo preserva su información, sino que también proporciona tranquilidad.</a:t>
            </a:r>
            <a:endParaRPr b="0" lang="en-US" sz="1400" spc="-1" strike="noStrike">
              <a:solidFill>
                <a:srgbClr val="000000"/>
              </a:solidFill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178;p31" descr=""/>
          <p:cNvPicPr/>
          <p:nvPr/>
        </p:nvPicPr>
        <p:blipFill>
          <a:blip r:embed="rId1"/>
          <a:srcRect l="0" t="5212" r="0" b="5204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ln w="0">
            <a:noFill/>
          </a:ln>
        </p:spPr>
      </p:pic>
      <p:grpSp>
        <p:nvGrpSpPr>
          <p:cNvPr id="95" name="Google Shape;179;p31"/>
          <p:cNvGrpSpPr/>
          <p:nvPr/>
        </p:nvGrpSpPr>
        <p:grpSpPr>
          <a:xfrm>
            <a:off x="-553320" y="130680"/>
            <a:ext cx="9278280" cy="1300320"/>
            <a:chOff x="-553320" y="130680"/>
            <a:chExt cx="9278280" cy="1300320"/>
          </a:xfrm>
        </p:grpSpPr>
        <p:sp>
          <p:nvSpPr>
            <p:cNvPr id="96" name="Google Shape;180;p31"/>
            <p:cNvSpPr/>
            <p:nvPr/>
          </p:nvSpPr>
          <p:spPr>
            <a:xfrm>
              <a:off x="-553320" y="130680"/>
              <a:ext cx="9278280" cy="1300320"/>
            </a:xfrm>
            <a:prstGeom prst="roundRect">
              <a:avLst>
                <a:gd name="adj" fmla="val 43641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7" name="Google Shape;181;p31"/>
            <p:cNvSpPr/>
            <p:nvPr/>
          </p:nvSpPr>
          <p:spPr>
            <a:xfrm>
              <a:off x="-343800" y="465480"/>
              <a:ext cx="207720" cy="2077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440" bIns="73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247760" y="380880"/>
            <a:ext cx="5466960" cy="7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000" spc="-1" strike="noStrike">
                <a:solidFill>
                  <a:schemeClr val="dk1"/>
                </a:solidFill>
                <a:latin typeface="Sora"/>
                <a:ea typeface="Sora"/>
              </a:rPr>
              <a:t>Importancia en TI</a:t>
            </a:r>
            <a:endParaRPr b="0" lang="fr-FR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228600" y="419040"/>
            <a:ext cx="1018800" cy="71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0920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400" spc="-1" strike="noStrike">
                <a:solidFill>
                  <a:schemeClr val="dk1"/>
                </a:solidFill>
                <a:latin typeface="Sora"/>
                <a:ea typeface="Sora"/>
              </a:rPr>
              <a:t>02</a:t>
            </a:r>
            <a:endParaRPr b="0" lang="fr-FR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7692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Sora"/>
                <a:ea typeface="Sora"/>
              </a:rPr>
              <a:t>Impacto del factor humano</a:t>
            </a:r>
            <a:endParaRPr b="0" lang="fr-FR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228600" y="170496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Public Sans"/>
                <a:ea typeface="Public Sans"/>
              </a:rPr>
              <a:t>El factor humano es esencial en la ciberseguridad, ya que la mayoría de las brechas de seguridad son el resultado de errores humanos. La capacitación y concienciación sobre la higiene digital entre los empleados es clave para prevenir incidentes y fortalecer la postura de seguridad de las organizaciones.</a:t>
            </a:r>
            <a:endParaRPr b="0" lang="en-US" sz="1400" spc="-1" strike="noStrike">
              <a:solidFill>
                <a:srgbClr val="000000"/>
              </a:solidFill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7692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Sora"/>
                <a:ea typeface="Sora"/>
              </a:rPr>
              <a:t>Estadísticas de ciberataques</a:t>
            </a:r>
            <a:endParaRPr b="0" lang="fr-FR" sz="3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228600" y="170496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Public Sans"/>
                <a:ea typeface="Public Sans"/>
              </a:rPr>
              <a:t>Recientes estudios han mostrado que el 41.2% de las pymes en Argentina sufrieron ciberataques en el último año. Esta alarmante cifra subraya la necesidad de implementar medidas de higiene digital y ciberseguridad efectivas para salvaguardar tanto los datos como la reputación del negocio.</a:t>
            </a:r>
            <a:endParaRPr b="0" lang="en-US" sz="1400" spc="-1" strike="noStrike">
              <a:solidFill>
                <a:srgbClr val="000000"/>
              </a:solidFill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71;p30"/>
          <p:cNvSpPr/>
          <p:nvPr/>
        </p:nvSpPr>
        <p:spPr>
          <a:xfrm>
            <a:off x="5217480" y="228600"/>
            <a:ext cx="3926520" cy="4686120"/>
          </a:xfrm>
          <a:prstGeom prst="roundRect">
            <a:avLst>
              <a:gd name="adj" fmla="val 8045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838400" cy="174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pc="-1" strike="noStrike">
                <a:solidFill>
                  <a:schemeClr val="dk1"/>
                </a:solidFill>
                <a:latin typeface="Sora"/>
                <a:ea typeface="Sora"/>
              </a:rPr>
              <a:t>Preparación ante vulnerabilidades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228600" y="1971720"/>
            <a:ext cx="483840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Public Sans"/>
                <a:ea typeface="Public Sans"/>
              </a:rPr>
              <a:t>La preparación ante posibles vulnerabilidades implica tener un plan de respuesta ante incidentes y realizar evaluaciones de riesgos regularmente. Esto incluye no solo tecnología y prácticas de seguridad, sino también la creación de una cultura organizacional que valore la ciberseguridad. Estar preparados puede marcar la diferencia entre una amenaza gestionada eficazmente y un desastre.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71;p30"/>
          <p:cNvSpPr/>
          <p:nvPr/>
        </p:nvSpPr>
        <p:spPr>
          <a:xfrm>
            <a:off x="5217480" y="228600"/>
            <a:ext cx="3926520" cy="4686120"/>
          </a:xfrm>
          <a:prstGeom prst="roundRect">
            <a:avLst>
              <a:gd name="adj" fmla="val 8045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838400" cy="174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600" spc="-1" strike="noStrike">
                <a:solidFill>
                  <a:schemeClr val="dk1"/>
                </a:solidFill>
                <a:latin typeface="Sora"/>
                <a:ea typeface="Sora"/>
              </a:rPr>
              <a:t>Conclusiones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228600" y="1971720"/>
            <a:ext cx="483840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Public Sans"/>
                <a:ea typeface="Public Sans"/>
              </a:rPr>
              <a:t>La higiene digital es fundamental en el mundo actual y juega un papel crucial en la protección de datos y privacidad. Implementar prácticas preventivas, como el uso de contraseñas robustas y copias de seguridad, junto con concienciar sobre la ciberseguridad, es vital para proteger tanto a individuos como a organizaciones de amenazas cibernéticas creciente. Actuar hoy puede ser la clave para un futuro digital seguro.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562440" cy="98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200" spc="-1" strike="noStrike">
                <a:solidFill>
                  <a:schemeClr val="dk1"/>
                </a:solidFill>
                <a:latin typeface="Sora"/>
                <a:ea typeface="Sora"/>
              </a:rPr>
              <a:t>Thank you!</a:t>
            </a:r>
            <a:endParaRPr b="0" lang="fr-FR" sz="5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228600" y="1266840"/>
            <a:ext cx="4447800" cy="10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Public Sans"/>
                <a:ea typeface="Public Sans"/>
              </a:rPr>
              <a:t>Do you have any questions?</a:t>
            </a:r>
            <a:endParaRPr b="0" lang="en-US" sz="1200" spc="-1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12" name="Google Shape;288;p40"/>
          <p:cNvSpPr/>
          <p:nvPr/>
        </p:nvSpPr>
        <p:spPr>
          <a:xfrm>
            <a:off x="304920" y="3962520"/>
            <a:ext cx="4152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+00 000 000 000</a:t>
            </a:r>
            <a:endParaRPr b="0" lang="en-US" sz="1000" spc="-1" strike="noStrike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13" name="Google Shape;289;p40"/>
          <p:cNvSpPr/>
          <p:nvPr/>
        </p:nvSpPr>
        <p:spPr>
          <a:xfrm>
            <a:off x="304920" y="2638440"/>
            <a:ext cx="331200" cy="331560"/>
          </a:xfrm>
          <a:custGeom>
            <a:avLst/>
            <a:gdLst>
              <a:gd name="textAreaLeft" fmla="*/ 0 w 331200"/>
              <a:gd name="textAreaRight" fmla="*/ 331560 w 331200"/>
              <a:gd name="textAreaTop" fmla="*/ 0 h 331560"/>
              <a:gd name="textAreaBottom" fmla="*/ 331920 h 331560"/>
            </a:gdLst>
            <a:ah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114" name="Google Shape;290;p40"/>
          <p:cNvGrpSpPr/>
          <p:nvPr/>
        </p:nvGrpSpPr>
        <p:grpSpPr>
          <a:xfrm>
            <a:off x="798840" y="2638080"/>
            <a:ext cx="327600" cy="332640"/>
            <a:chOff x="798840" y="2638080"/>
            <a:chExt cx="327600" cy="332640"/>
          </a:xfrm>
        </p:grpSpPr>
        <p:sp>
          <p:nvSpPr>
            <p:cNvPr id="115" name="Google Shape;291;p40"/>
            <p:cNvSpPr/>
            <p:nvPr/>
          </p:nvSpPr>
          <p:spPr>
            <a:xfrm>
              <a:off x="798840" y="2638080"/>
              <a:ext cx="327600" cy="33264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332640"/>
                <a:gd name="textAreaBottom" fmla="*/ 333000 h 332640"/>
              </a:gdLst>
              <a:ah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" name="Google Shape;292;p40"/>
            <p:cNvSpPr/>
            <p:nvPr/>
          </p:nvSpPr>
          <p:spPr>
            <a:xfrm>
              <a:off x="860400" y="2701080"/>
              <a:ext cx="203760" cy="207000"/>
            </a:xfrm>
            <a:custGeom>
              <a:avLst/>
              <a:gdLst>
                <a:gd name="textAreaLeft" fmla="*/ 0 w 203760"/>
                <a:gd name="textAreaRight" fmla="*/ 204120 w 203760"/>
                <a:gd name="textAreaTop" fmla="*/ 0 h 207000"/>
                <a:gd name="textAreaBottom" fmla="*/ 207360 h 207000"/>
              </a:gdLst>
              <a:ah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" name="Google Shape;293;p40"/>
            <p:cNvSpPr/>
            <p:nvPr/>
          </p:nvSpPr>
          <p:spPr>
            <a:xfrm>
              <a:off x="907920" y="275004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360" bIns="54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8" name="Google Shape;294;p40"/>
            <p:cNvSpPr/>
            <p:nvPr/>
          </p:nvSpPr>
          <p:spPr>
            <a:xfrm>
              <a:off x="1003680" y="2727720"/>
              <a:ext cx="27720" cy="277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27720"/>
                <a:gd name="textAreaBottom" fmla="*/ 28080 h 27720"/>
              </a:gdLst>
              <a:ah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19" name="Google Shape;295;p40"/>
          <p:cNvGrpSpPr/>
          <p:nvPr/>
        </p:nvGrpSpPr>
        <p:grpSpPr>
          <a:xfrm>
            <a:off x="1302480" y="2638080"/>
            <a:ext cx="332640" cy="332640"/>
            <a:chOff x="1302480" y="2638080"/>
            <a:chExt cx="332640" cy="332640"/>
          </a:xfrm>
        </p:grpSpPr>
        <p:sp>
          <p:nvSpPr>
            <p:cNvPr id="120" name="Google Shape;296;p40"/>
            <p:cNvSpPr/>
            <p:nvPr/>
          </p:nvSpPr>
          <p:spPr>
            <a:xfrm>
              <a:off x="1302480" y="2638080"/>
              <a:ext cx="332640" cy="332640"/>
            </a:xfrm>
            <a:custGeom>
              <a:avLst/>
              <a:gdLst>
                <a:gd name="textAreaLeft" fmla="*/ 0 w 332640"/>
                <a:gd name="textAreaRight" fmla="*/ 333000 w 332640"/>
                <a:gd name="textAreaTop" fmla="*/ 0 h 332640"/>
                <a:gd name="textAreaBottom" fmla="*/ 333000 h 332640"/>
              </a:gdLst>
              <a:ah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1" name="Google Shape;297;p40"/>
            <p:cNvSpPr/>
            <p:nvPr/>
          </p:nvSpPr>
          <p:spPr>
            <a:xfrm>
              <a:off x="1379160" y="2771280"/>
              <a:ext cx="45720" cy="11592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115920"/>
                <a:gd name="textAreaBottom" fmla="*/ 116280 h 115920"/>
              </a:gdLst>
              <a:ah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2" name="Google Shape;298;p40"/>
            <p:cNvSpPr/>
            <p:nvPr/>
          </p:nvSpPr>
          <p:spPr>
            <a:xfrm>
              <a:off x="1371960" y="2708280"/>
              <a:ext cx="52560" cy="5256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52560"/>
                <a:gd name="textAreaBottom" fmla="*/ 52920 h 52560"/>
              </a:gdLst>
              <a:ah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3" name="Google Shape;299;p40"/>
            <p:cNvSpPr/>
            <p:nvPr/>
          </p:nvSpPr>
          <p:spPr>
            <a:xfrm>
              <a:off x="1449000" y="2771280"/>
              <a:ext cx="123120" cy="11592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115920"/>
                <a:gd name="textAreaBottom" fmla="*/ 116280 h 115920"/>
              </a:gdLst>
              <a:ah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24" name="Google Shape;300;p40"/>
          <p:cNvGrpSpPr/>
          <p:nvPr/>
        </p:nvGrpSpPr>
        <p:grpSpPr>
          <a:xfrm>
            <a:off x="1791720" y="2638080"/>
            <a:ext cx="332640" cy="332640"/>
            <a:chOff x="1791720" y="2638080"/>
            <a:chExt cx="332640" cy="332640"/>
          </a:xfrm>
        </p:grpSpPr>
        <p:sp>
          <p:nvSpPr>
            <p:cNvPr id="125" name="Google Shape;301;p40"/>
            <p:cNvSpPr/>
            <p:nvPr/>
          </p:nvSpPr>
          <p:spPr>
            <a:xfrm>
              <a:off x="1866240" y="2710440"/>
              <a:ext cx="183960" cy="188280"/>
            </a:xfrm>
            <a:custGeom>
              <a:avLst/>
              <a:gdLst>
                <a:gd name="textAreaLeft" fmla="*/ 0 w 183960"/>
                <a:gd name="textAreaRight" fmla="*/ 184320 w 183960"/>
                <a:gd name="textAreaTop" fmla="*/ 0 h 188280"/>
                <a:gd name="textAreaBottom" fmla="*/ 188640 h 188280"/>
              </a:gdLst>
              <a:ahLst/>
              <a:rect l="textAreaLeft" t="textAreaTop" r="textAreaRight" b="textAreaBottom"/>
              <a:pathLst>
                <a:path w="494728" h="505587">
                  <a:moveTo>
                    <a:pt x="294418" y="214122"/>
                  </a:moveTo>
                  <a:lnTo>
                    <a:pt x="478631" y="0"/>
                  </a:lnTo>
                  <a:lnTo>
                    <a:pt x="435007" y="0"/>
                  </a:lnTo>
                  <a:lnTo>
                    <a:pt x="275082" y="185928"/>
                  </a:lnTo>
                  <a:lnTo>
                    <a:pt x="147352" y="0"/>
                  </a:lnTo>
                  <a:lnTo>
                    <a:pt x="0" y="0"/>
                  </a:lnTo>
                  <a:lnTo>
                    <a:pt x="193167" y="281083"/>
                  </a:lnTo>
                  <a:lnTo>
                    <a:pt x="0" y="505587"/>
                  </a:lnTo>
                  <a:lnTo>
                    <a:pt x="43625" y="505587"/>
                  </a:lnTo>
                  <a:lnTo>
                    <a:pt x="212503" y="309277"/>
                  </a:lnTo>
                  <a:lnTo>
                    <a:pt x="347377" y="505587"/>
                  </a:lnTo>
                  <a:lnTo>
                    <a:pt x="494729" y="505587"/>
                  </a:lnTo>
                  <a:lnTo>
                    <a:pt x="294418" y="214027"/>
                  </a:lnTo>
                  <a:lnTo>
                    <a:pt x="294418" y="214027"/>
                  </a:lnTo>
                  <a:close/>
                  <a:moveTo>
                    <a:pt x="234601" y="283655"/>
                  </a:moveTo>
                  <a:lnTo>
                    <a:pt x="215075" y="255651"/>
                  </a:lnTo>
                  <a:lnTo>
                    <a:pt x="59341" y="32861"/>
                  </a:lnTo>
                  <a:lnTo>
                    <a:pt x="126397" y="32861"/>
                  </a:lnTo>
                  <a:lnTo>
                    <a:pt x="252032" y="212598"/>
                  </a:lnTo>
                  <a:lnTo>
                    <a:pt x="271558" y="240601"/>
                  </a:lnTo>
                  <a:lnTo>
                    <a:pt x="434912" y="474250"/>
                  </a:lnTo>
                  <a:lnTo>
                    <a:pt x="367855" y="474250"/>
                  </a:lnTo>
                  <a:lnTo>
                    <a:pt x="234505" y="283559"/>
                  </a:lnTo>
                  <a:lnTo>
                    <a:pt x="234505" y="283559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" name="Google Shape;302;p40"/>
            <p:cNvSpPr/>
            <p:nvPr/>
          </p:nvSpPr>
          <p:spPr>
            <a:xfrm>
              <a:off x="1791720" y="2638080"/>
              <a:ext cx="332640" cy="332640"/>
            </a:xfrm>
            <a:custGeom>
              <a:avLst/>
              <a:gdLst>
                <a:gd name="textAreaLeft" fmla="*/ 0 w 332640"/>
                <a:gd name="textAreaRight" fmla="*/ 333000 w 332640"/>
                <a:gd name="textAreaTop" fmla="*/ 0 h 332640"/>
                <a:gd name="textAreaBottom" fmla="*/ 333000 h 332640"/>
              </a:gdLst>
              <a:ah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LibreOffice/7.6.7.2$Linux_X86_64 LibreOffice_project/60$Build-2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2025-05-13T22:23:51Z</dcterms:created>
  <dc:creator>Unknown Creator</dc:creator>
  <dc:description/>
  <dc:language>en-US</dc:language>
  <cp:lastModifiedBy>Unknown Creator</cp:lastModifiedBy>
  <dcterms:modified xsi:type="dcterms:W3CDTF">2025-05-13T22:23:51Z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